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109728" cy="4480560"/>
          </a:xfrm>
          <a:prstGeom prst="rect">
            <a:avLst/>
          </a:prstGeom>
          <a:solidFill>
            <a:srgbClr val="2B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43000"/>
            <a:ext cx="9784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Cidades ESG Inteligentes</a:t>
            </a:r>
          </a:p>
          <a:p>
            <a:pPr>
              <a:spcBef>
                <a:spcPts val="1200"/>
              </a:spcBef>
              <a:defRPr sz="2200">
                <a:solidFill>
                  <a:srgbClr val="BEDCD0"/>
                </a:solidFill>
              </a:defRPr>
            </a:pPr>
            <a:r>
              <a:t>DevOps • CI/CD • Docker • Staging • Produção</a:t>
            </a:r>
          </a:p>
          <a:p>
            <a:pPr>
              <a:spcBef>
                <a:spcPts val="2400"/>
              </a:spcBef>
              <a:defRPr sz="1500">
                <a:solidFill>
                  <a:srgbClr val="FFFFFF"/>
                </a:solidFill>
              </a:defRPr>
            </a:pPr>
            <a:r>
              <a:t>Atividade Avaliativa — Navegando pelo mundo DevOps</a:t>
            </a:r>
          </a:p>
          <a:p>
            <a:pPr>
              <a:spcBef>
                <a:spcPts val="3800"/>
              </a:spcBef>
              <a:defRPr sz="1600" b="1">
                <a:solidFill>
                  <a:srgbClr val="FFFFFF"/>
                </a:solidFill>
              </a:defRPr>
            </a:pPr>
            <a:r>
              <a:t>Vitor Pavan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37"/>
                </a:solidFill>
              </a:defRPr>
            </a:pPr>
            <a:r>
              <a:t>Visão geral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C66"/>
                </a:solidFill>
              </a:defRPr>
            </a:pPr>
            <a:r>
              <a:t>API REST em .NET 8 para indicadores de sustentabilidade urbana.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Tema ESG aplicado a cidades inteligentes e monitoramento ambiental.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CRUD de indicadores: energia, reciclagem, áreas verdes e outros.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Health check e Swagger para validação operacional.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Projeto preparado para execução reproduzível em containers.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C66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37"/>
                </a:solidFill>
              </a:defRPr>
            </a:pPr>
            <a:r>
              <a:t>Arquitetura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C66"/>
                </a:solidFill>
              </a:defRPr>
            </a:pPr>
            <a:r>
              <a:t>Separação simples, reproduzível e adequada à demonstração acadêmica.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206654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7A5D"/>
                </a:solidFill>
              </a:defRPr>
            </a:pPr>
            <a:r>
              <a:t>Cliente / Swagger</a:t>
            </a:r>
          </a:p>
          <a:p>
            <a:pPr>
              <a:spcBef>
                <a:spcPts val="800"/>
              </a:spcBef>
              <a:defRPr sz="1200">
                <a:solidFill>
                  <a:srgbClr val="505C66"/>
                </a:solidFill>
              </a:defRPr>
            </a:pPr>
            <a:r>
              <a:t>Consome endpoints REST e permite validação interativa.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5887" y="1810512"/>
            <a:ext cx="206654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7A5D"/>
                </a:solidFill>
              </a:defRPr>
            </a:pPr>
            <a:r>
              <a:t>ASP.NET Core API</a:t>
            </a:r>
          </a:p>
          <a:p>
            <a:pPr>
              <a:spcBef>
                <a:spcPts val="800"/>
              </a:spcBef>
              <a:defRPr sz="1200">
                <a:solidFill>
                  <a:srgbClr val="505C66"/>
                </a:solidFill>
              </a:defRPr>
            </a:pPr>
            <a:r>
              <a:t>Controllers, health check e regras da aplicação.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810512"/>
            <a:ext cx="206654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7A5D"/>
                </a:solidFill>
              </a:defRPr>
            </a:pPr>
            <a:r>
              <a:t>Dados</a:t>
            </a:r>
          </a:p>
          <a:p>
            <a:pPr>
              <a:spcBef>
                <a:spcPts val="800"/>
              </a:spcBef>
              <a:defRPr sz="1200">
                <a:solidFill>
                  <a:srgbClr val="505C66"/>
                </a:solidFill>
              </a:defRPr>
            </a:pPr>
            <a:r>
              <a:t>EF Core InMemory para uma execução autocontida.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1810512"/>
            <a:ext cx="206654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B7A5D"/>
                </a:solidFill>
              </a:defRPr>
            </a:pPr>
            <a:r>
              <a:t>DevOps</a:t>
            </a:r>
          </a:p>
          <a:p>
            <a:pPr>
              <a:spcBef>
                <a:spcPts val="800"/>
              </a:spcBef>
              <a:defRPr sz="1200">
                <a:solidFill>
                  <a:srgbClr val="505C66"/>
                </a:solidFill>
              </a:defRPr>
            </a:pPr>
            <a:r>
              <a:t>Docker, Compose e GitHub Actions.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2337"/>
                </a:solidFill>
              </a:defRPr>
            </a:pPr>
            <a:r>
              <a:t>Cliente / Swagger → ASP.NET Core Web API → camada de dados.</a:t>
            </a:r>
          </a:p>
          <a:p>
            <a:pPr>
              <a:spcAft>
                <a:spcPts val="1200"/>
              </a:spcAft>
              <a:defRPr sz="1600">
                <a:solidFill>
                  <a:srgbClr val="0F2337"/>
                </a:solidFill>
              </a:defRPr>
            </a:pPr>
            <a:r>
              <a:t>Entity Framework Core + SQLite para persistência simples e autocontida.</a:t>
            </a:r>
          </a:p>
          <a:p>
            <a:pPr>
              <a:spcAft>
                <a:spcPts val="1200"/>
              </a:spcAft>
              <a:defRPr sz="1600">
                <a:solidFill>
                  <a:srgbClr val="0F2337"/>
                </a:solidFill>
              </a:defRPr>
            </a:pPr>
            <a:r>
              <a:t>Docker empacota a aplicação e o runtime.</a:t>
            </a:r>
          </a:p>
          <a:p>
            <a:pPr>
              <a:spcAft>
                <a:spcPts val="1200"/>
              </a:spcAft>
              <a:defRPr sz="1600">
                <a:solidFill>
                  <a:srgbClr val="0F2337"/>
                </a:solidFill>
              </a:defRPr>
            </a:pPr>
            <a:r>
              <a:t>Docker Compose cria ambientes separados de staging e produção.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C66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37"/>
                </a:solidFill>
              </a:defRPr>
            </a:pPr>
            <a:r>
              <a:t>Estratégia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C66"/>
                </a:solidFill>
              </a:defRPr>
            </a:pPr>
            <a:r>
              <a:t>Automação do ciclo de integração, validação e implantação.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Controle de versão em Git/GitHub.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GitHub Actions como ferramenta de CI/CD.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Build e testes executados antes de qualquer deploy.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Staging precisa concluir com sucesso antes de produção.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C66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37"/>
                </a:solidFill>
              </a:defRPr>
            </a:pPr>
            <a:r>
              <a:t>Pipeline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C66"/>
                </a:solidFill>
              </a:defRPr>
            </a:pPr>
            <a:r>
              <a:t>Fluxo implementado em .github/workflows/ci-cd.yml.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1. Checkout + configuração do .NET 8.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2. Restore, build e testes automatizados.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3. Build da imagem Docker.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4. Deploy em staging + smoke test /health.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5. Deploy em produção + smoke test /health.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C66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37"/>
                </a:solidFill>
              </a:defRPr>
            </a:pPr>
            <a:r>
              <a:t>Containerização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C66"/>
                </a:solidFill>
              </a:defRPr>
            </a:pPr>
            <a:r>
              <a:t>Dockerfile multi-stage para separar compilação e execução.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Build: imagem mcr.microsoft.com/dotnet/sdk:8.0.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Runtime: imagem mcr.microsoft.com/dotnet/aspnet:8.0.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Aplicação publicada em Release.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Porta interna 8080 e ASPNETCORE_URLS configurado.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C66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37"/>
                </a:solidFill>
              </a:defRPr>
            </a:pPr>
            <a:r>
              <a:t>Orquestração com Docker Compose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C66"/>
                </a:solidFill>
              </a:defRPr>
            </a:pPr>
            <a:r>
              <a:t>Dois ambientes com a mesma imagem e configurações independentes.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api-staging: porta 8081 e ASPNETCORE_ENVIRONMENT=Staging.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api-production: porta 8080 e ASPNETCORE_ENVIRONMENT=Production.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Volumes nomeados para persistência do banco SQLite.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Rede bridge própria esg-network.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C66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37"/>
                </a:solidFill>
              </a:defRPr>
            </a:pPr>
            <a:r>
              <a:t>Testes e 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C66"/>
                </a:solidFill>
              </a:defRPr>
            </a:pPr>
            <a:r>
              <a:t>O pipeline valida a aplicação antes de promover uma versão.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xUnit + WebApplicationFactory para testes de integração.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Teste do endpoint /health.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Teste do endpoint /api/indicadores.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Smoke tests via curl após subir staging e produção.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C66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37"/>
                </a:solidFill>
              </a:defRPr>
            </a:pPr>
            <a:r>
              <a:t>Evidências de execução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C66"/>
                </a:solidFill>
              </a:defRPr>
            </a:pPr>
            <a:r>
              <a:t>Substitua os espaços abaixo por prints reais antes da entrega.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120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4663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B7A5D"/>
                </a:solidFill>
              </a:defRPr>
            </a:pPr>
            <a:r>
              <a:t>BUILD / TEST</a:t>
            </a:r>
          </a:p>
          <a:p>
            <a:pPr>
              <a:spcBef>
                <a:spcPts val="1400"/>
              </a:spcBef>
              <a:defRPr sz="1400">
                <a:solidFill>
                  <a:srgbClr val="505C66"/>
                </a:solidFill>
              </a:defRPr>
            </a:pPr>
            <a:r>
              <a:t>INSERIR PRINT REAL AQUI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600200"/>
            <a:ext cx="5120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59" y="1874519"/>
            <a:ext cx="4663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B7A5D"/>
                </a:solidFill>
              </a:defRPr>
            </a:pPr>
            <a:r>
              <a:t>STAGING</a:t>
            </a:r>
          </a:p>
          <a:p>
            <a:pPr>
              <a:spcBef>
                <a:spcPts val="1400"/>
              </a:spcBef>
              <a:defRPr sz="1400">
                <a:solidFill>
                  <a:srgbClr val="505C66"/>
                </a:solidFill>
              </a:defRPr>
            </a:pPr>
            <a:r>
              <a:t>INSERIR PRINT REAL AQUI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5120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23359"/>
            <a:ext cx="4663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B7A5D"/>
                </a:solidFill>
              </a:defRPr>
            </a:pPr>
            <a:r>
              <a:t>PRODUCTION</a:t>
            </a:r>
          </a:p>
          <a:p>
            <a:pPr>
              <a:spcBef>
                <a:spcPts val="1400"/>
              </a:spcBef>
              <a:defRPr sz="1400">
                <a:solidFill>
                  <a:srgbClr val="505C66"/>
                </a:solidFill>
              </a:defRPr>
            </a:pPr>
            <a:r>
              <a:t>INSERIR PRINT REAL AQUI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749039"/>
            <a:ext cx="51206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2EE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4023359"/>
            <a:ext cx="4663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2B7A5D"/>
                </a:solidFill>
              </a:defRPr>
            </a:pPr>
            <a:r>
              <a:t>APP / SWAGGER</a:t>
            </a:r>
          </a:p>
          <a:p>
            <a:pPr>
              <a:spcBef>
                <a:spcPts val="1400"/>
              </a:spcBef>
              <a:defRPr sz="1400">
                <a:solidFill>
                  <a:srgbClr val="505C66"/>
                </a:solidFill>
              </a:defRPr>
            </a:pPr>
            <a:r>
              <a:t>INSERIR PRINT REAL AQUI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C66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37"/>
                </a:solidFill>
              </a:defRPr>
            </a:pPr>
            <a:r>
              <a:t>Desafios e soluções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C66"/>
                </a:solidFill>
              </a:defRPr>
            </a:pPr>
            <a:r>
              <a:t>Decisões adotadas para tornar a entrega robusta e reproduzível.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Ambientes diferentes → variáveis de ambiente e portas distintas.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Diferenças entre máquinas → containerização com Docker.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Falhas antes do deploy → dependência entre jobs e testes automáticos.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Comprovação de funcionamento → health check, smoke test e evidências.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C66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37"/>
                </a:solidFill>
              </a:defRPr>
            </a:pPr>
            <a:r>
              <a:t>Checklist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C66"/>
                </a:solidFill>
              </a:defRPr>
            </a:pPr>
            <a:r>
              <a:t>Conferência da rubrica antes do upload.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☑ Estrutura organizada e pronta para ZIP.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☑ Dockerfile e docker-compose.yml.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☑ Pipeline com build, testes, staging e produção.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☑ README técnico e documentação.</a:t>
            </a:r>
          </a:p>
          <a:p>
            <a:pPr>
              <a:spcAft>
                <a:spcPts val="1200"/>
              </a:spcAft>
              <a:defRPr sz="1800">
                <a:solidFill>
                  <a:srgbClr val="0F2337"/>
                </a:solidFill>
              </a:defRPr>
            </a:pPr>
            <a:r>
              <a:t>☐ Inserir prints reais e marcar evidências como concluídas.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05C66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